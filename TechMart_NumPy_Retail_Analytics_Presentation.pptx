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5F7FA"/>
                </a:solidFill>
                <a:latin typeface="Aptos Display"/>
              </a:defRPr>
            </a:pPr>
            <a:r>
              <a:t>TechMart Retail Analytics</a:t>
            </a:r>
          </a:p>
          <a:p>
            <a:pPr>
              <a:defRPr sz="2200">
                <a:solidFill>
                  <a:srgbClr val="10B981"/>
                </a:solidFill>
                <a:latin typeface="Aptos"/>
              </a:defRPr>
            </a:pPr>
            <a:r>
              <a:t>A hands-on NumPy data-analysis project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71800"/>
            <a:ext cx="329184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2971800"/>
            <a:ext cx="64008" cy="1325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3099816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3520440"/>
            <a:ext cx="29077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5 stores × 8 products × 90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2971800"/>
            <a:ext cx="329184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4840" y="2971800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6007" y="3099816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7" y="3520440"/>
            <a:ext cx="29077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Revenue • Profit • Demand •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971800"/>
            <a:ext cx="329184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2971800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3099816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3520440"/>
            <a:ext cx="290779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Vectorized NumPy • No pandas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Project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What the business wants to learn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TechMart has 5 stores selling the same 8 electronics products.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dataset contains 90 days of daily unit-sales records.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Management wants insight into revenue, profit, demand spikes, stock risks, and products that move together.</a:t>
            </a:r>
          </a:p>
          <a:p>
            <a:pPr>
              <a:spcAft>
                <a:spcPts val="1000"/>
              </a:spcAft>
              <a:defRPr sz="1900">
                <a:solidFill>
                  <a:srgbClr val="F5F7FA"/>
                </a:solidFill>
                <a:latin typeface="Aptos"/>
              </a:defRPr>
            </a:pPr>
            <a:r>
              <a:t>• The analytics core must use NumPy only, so the solution emphasizes fast vectorized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52360" y="1417320"/>
            <a:ext cx="393192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52360" y="1417320"/>
            <a:ext cx="6400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53528" y="1545336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MAIN DATA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53528" y="1965960"/>
            <a:ext cx="35478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AAB4C0"/>
                </a:solidFill>
                <a:latin typeface="Aptos"/>
              </a:defRPr>
            </a:pPr>
            <a:r>
              <a:t>units_sold shape = (5, 8, 90)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2834640"/>
            <a:ext cx="393192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283464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53528" y="2962656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AXES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3383280"/>
            <a:ext cx="35478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0 = stores  •  1 = products  •  2 =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4251960"/>
            <a:ext cx="393192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425196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53528" y="4379976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FIXED SEED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3528" y="4800600"/>
            <a:ext cx="354787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rng seed = 42 → reproducible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Dataset &amp; NumPy Foundation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7432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32588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1453895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1874519"/>
            <a:ext cx="23591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Poisson-generated unit sales</a:t>
            </a:r>
            <a:br/>
            <a:r>
              <a:t>~73,000 units across the chain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325880"/>
            <a:ext cx="27432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11880" y="132588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13048" y="1453895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PRODUCT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3048" y="1874519"/>
            <a:ext cx="23591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8 product names</a:t>
            </a:r>
            <a:br/>
            <a:r>
              <a:t>Selling prices + unit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25880"/>
            <a:ext cx="233172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2588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8" y="1453895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874519"/>
            <a:ext cx="19476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Base demand per product</a:t>
            </a:r>
            <a:br/>
            <a:r>
              <a:t>Store performance factors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325880"/>
            <a:ext cx="233172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0" y="132588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1453895"/>
            <a:ext cx="1965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1874519"/>
            <a:ext cx="19476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90 days</a:t>
            </a:r>
            <a:br/>
            <a:r>
              <a:t>Weekend sales bump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474720"/>
            <a:ext cx="10835640" cy="150876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474720"/>
            <a:ext cx="64008" cy="1508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7" y="3602736"/>
            <a:ext cx="10469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CORE 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7" y="4023359"/>
            <a:ext cx="104515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N-dimensional arrays • shapes &amp; axes • reshape • broadcasting • axis-based sum/mean/max • Boolean masks • statistics &amp; z-scores • convolution • cumulative sums • correlation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1 — Load &amp;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Validate the dataset before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7160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96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CHECK SHAPE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29992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Confirm the sales cube is</a:t>
            </a:r>
            <a:br/>
            <a:r>
              <a:t>(5, 8, 90).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996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CHECK TYPE &amp; SIZE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920240"/>
            <a:ext cx="29992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Inspect dtype and total number of elements:</a:t>
            </a:r>
            <a:br/>
            <a:r>
              <a:t>5 × 8 × 90 = 3,600.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71600"/>
            <a:ext cx="338328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37160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149961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1920240"/>
            <a:ext cx="299923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Verify no negative values and no NaNs; report min, max and mean.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10789920" cy="11430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64008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785615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CHAIN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06240"/>
            <a:ext cx="10405872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Print the total units sold across all stores, products and 90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2 — Revenue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Broadcasting + axes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3383280" cy="16002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64008" cy="1600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081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1. REVENUE CUBE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28800"/>
            <a:ext cx="29992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Revenue = units sold × selling price</a:t>
            </a:r>
            <a:br/>
            <a:r>
              <a:t>Price is reshaped to (1, 8, 1) so NumPy broadcasts it across stores and days.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383280" cy="16002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280160"/>
            <a:ext cx="64008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14081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2. BREAKDOWNS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1828800"/>
            <a:ext cx="29992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Use sum() along selected axes to get total revenue per store, product and day.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16002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280160"/>
            <a:ext cx="64008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408176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3. TOP EARNERS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1828800"/>
            <a:ext cx="2999232" cy="941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argmax() finds the index of the largest revenue value; that index maps to the store/product 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5257800" cy="1874519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64008" cy="1874519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7413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94759"/>
            <a:ext cx="487375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AB4C0"/>
                </a:solidFill>
                <a:latin typeface="Aptos"/>
              </a:defRPr>
            </a:pPr>
            <a:r>
              <a:t>Total company revenue: £5,005,715</a:t>
            </a:r>
            <a:br/>
            <a:r>
              <a:t>Top store: Store 1</a:t>
            </a:r>
            <a:br/>
            <a:r>
              <a:t>Top product by revenue: 27in Monitor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46120"/>
            <a:ext cx="5257800" cy="1874519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64008" cy="1874519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374136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PRODUCT REVENUE HIGHLIGHT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3794759"/>
            <a:ext cx="4873752" cy="1216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27in Monitor: £1,156,800</a:t>
            </a:r>
            <a:br/>
            <a:r>
              <a:t>Mechanical Keyboard: £966,160</a:t>
            </a:r>
            <a:br/>
            <a:r>
              <a:t>Noise-Cancel Headset: £706,680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3 — Profit &amp; Margins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Elementwise math + ranking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5544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PROFIT CUBE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Profit = units × (price − cost)</a:t>
            </a:r>
            <a:br/>
            <a:r>
              <a:t>Each sold unit contributes its unit profit.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5544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1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Profit margin = (price − cost) ÷ price</a:t>
            </a:r>
            <a:br/>
            <a:r>
              <a:t>This compares profitability per unit.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15544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64008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RANKING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74519"/>
            <a:ext cx="3044952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Sort products from highest to lowest margin and compare total profit with the chain average.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246120"/>
            <a:ext cx="5212080" cy="17830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246120"/>
            <a:ext cx="64008" cy="1783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374136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KEY RESULTS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794759"/>
            <a:ext cx="48280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AAB4C0"/>
                </a:solidFill>
                <a:latin typeface="Aptos"/>
              </a:defRPr>
            </a:pPr>
            <a:r>
              <a:t>Total company profit: £2,187,230</a:t>
            </a:r>
            <a:br/>
            <a:r>
              <a:t>Average product profit: £273,403.75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246120"/>
            <a:ext cx="5440680" cy="17830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246120"/>
            <a:ext cx="64008" cy="1783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374136"/>
            <a:ext cx="5074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WEAK PERFORMERS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794759"/>
            <a:ext cx="505663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USB-C Hub • 1080p Webcam • Laptop Stand • External SSD 1TB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4 — Alerts with Boolean Masks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Detect stockouts, demand spikes and weekend effects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STOCKOUTS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Boolean mask: units_sold == 0</a:t>
            </a:r>
            <a:br/>
            <a:r>
              <a:t>Count all True values and group by product with sum(axis=(0,2)).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HIGH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For each product, threshold = mean + 2 × std.</a:t>
            </a:r>
            <a:br/>
            <a:r>
              <a:t>Days above that threshold are flagged.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WEEKEND VS NORMAL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weekly &gt; 1 creates a weekend mask. Compare masked weekend sales with the inverse mask for normal days.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27080" cy="13716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02736"/>
            <a:ext cx="10561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23359"/>
            <a:ext cx="1054303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Masks turn business rules into direct filters: zero sales → stockout risk; unusually high sales → demand alert; weekend mask → behavior comparison.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5 — Statistics &amp; Outliers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Understand typical demand and unusual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429000" cy="164592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325880"/>
            <a:ext cx="64008" cy="1645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DESCRIPTIVE STATS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874519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For each product, calculate mean, median and standard deviation of daily chain-wide sales.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64592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25880"/>
            <a:ext cx="64008" cy="16459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COEFFICIENT OF VARIATION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74519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CV = standard deviation ÷ mean.</a:t>
            </a:r>
            <a:br/>
            <a:r>
              <a:t>Higher CV means more relative volatility and harder forecasting.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429000" cy="164592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325880"/>
            <a:ext cx="64008" cy="1645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453895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Z-SCORES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874519"/>
            <a:ext cx="304495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AAB4C0"/>
                </a:solidFill>
                <a:latin typeface="Aptos"/>
              </a:defRPr>
            </a:pPr>
            <a:r>
              <a:t>Convert daily totals to z-scores and flag anomalies where |z| &gt; 2.5.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1092708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29000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557016"/>
            <a:ext cx="10561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3977639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AAB4C0"/>
                </a:solidFill>
                <a:latin typeface="Aptos"/>
              </a:defRPr>
            </a:pPr>
            <a:r>
              <a:t>Mean shows typical sales; median shows the middle day; standard deviation shows spread. CV compares volatility fairly across products, while z-scores identify unusually high or low days.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6 — Trends Over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Slicing + convolution + cumulative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7-DAY MOVING AVERAGE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np.convolve(daily_revenue, ones(7)/7, 'valid') smooths daily ups and downs to reveal the trend.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WEEKLY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First 84 days → 12 weeks with reshape(12,7).</a:t>
            </a:r>
            <a:br/>
            <a:r>
              <a:t>np.diff() compares consecutive weekly totals.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CUMULATIVE REVENUE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np.cumsum() creates a running total.</a:t>
            </a:r>
            <a:br/>
            <a:r>
              <a:t>np.argmax() finds the first day cumulative revenue reaches £2.5M.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2708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02736"/>
            <a:ext cx="10561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23359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>
                <a:solidFill>
                  <a:srgbClr val="AAB4C0"/>
                </a:solidFill>
                <a:latin typeface="Aptos"/>
              </a:defRPr>
            </a:pPr>
            <a:r>
              <a:t>Moving average = trend • weekly growth = change • cumulative revenue = progress toward the target.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Milestone 7 — What Sells Together?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Correlation + linear-algebra thinking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PRODUCT ×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Collapse the 5 × 8 × 90 cube into an 8 × 90 matrix: one row per product, one column per 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828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CORRELATION MATRIX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np.corrcoef() produces an 8 × 8 matrix showing how similarly products' daily sales move.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34440"/>
            <a:ext cx="3429000" cy="182880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234440"/>
            <a:ext cx="64008" cy="1828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PAIR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783080"/>
            <a:ext cx="304495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AAB4C0"/>
                </a:solidFill>
                <a:latin typeface="Aptos"/>
              </a:defRPr>
            </a:pPr>
            <a:r>
              <a:t>Ignore the diagonal and find the largest positive correlation to identify a cross-sell/bundling opportunity.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10927080" cy="132588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64008" cy="13258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3602736"/>
            <a:ext cx="10561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BUSINESS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023359"/>
            <a:ext cx="10543032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AAB4C0"/>
                </a:solidFill>
                <a:latin typeface="Aptos"/>
              </a:defRPr>
            </a:pPr>
            <a:r>
              <a:t>A strong positive correlation suggests products often rise and fall together. The strongest pair in this dataset is Mechanical Keyboard + USB-C Hub (r ≈ 0.75), which can guide bundle promotions and inventory planning.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Turning NumPy results into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Revenue: £5,005,715; Store 1 is the highest-revenue store.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The 27in Monitor generated £1,156,800, the largest product revenue total.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Total profit is £2,187,230; margin ranking highlights products that earn more profit per unit.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Wireless Mouse has the most stockout events, providing a useful restocking warning.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27in Monitor has the highest coefficient of variation and is the hardest product to forecast.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Moving averages separate the underlying revenue trend from daily fluctuations.</a:t>
            </a:r>
          </a:p>
          <a:p>
            <a:pPr>
              <a:spcAft>
                <a:spcPts val="1000"/>
              </a:spcAft>
              <a:defRPr sz="1700">
                <a:solidFill>
                  <a:srgbClr val="F5F7FA"/>
                </a:solidFill>
                <a:latin typeface="Aptos"/>
              </a:defRPr>
            </a:pPr>
            <a:r>
              <a:t>• Correlation analysis identifies products that may be suitable for bundles and cross-selling.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F5F7FA"/>
                </a:solidFill>
                <a:latin typeface="Aptos Display"/>
              </a:defRPr>
            </a:pPr>
            <a:r>
              <a:t>Key NumPy Operations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0"/>
                </a:solidFill>
                <a:latin typeface="Aptos"/>
              </a:defRPr>
            </a:pPr>
            <a:r>
              <a:t>The toolkit used across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6400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reshape()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Changes array shape without changing its values.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23444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broadcasting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78308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Applies price/cost data across the 3-D sales cube.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23444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23444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6245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sum(axis=...)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78308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Aggregates along selected dimensions.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4320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2743200"/>
            <a:ext cx="6400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8" y="28712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Boolean masks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329184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Filters data using conditions such as units_sold == 0.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74320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74320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28712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mean / median / std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329184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Describe typical demand and variability.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80" y="274320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274320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5048" y="287121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np.convolve()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5048" y="329184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Calculates the 7-day moving average.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25196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94360" y="4251960"/>
            <a:ext cx="64008" cy="1234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37997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np.diff()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80060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Compares consecutive weekly totals.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25196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89120" y="4251960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90288" y="437997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np.cumsum()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0288" y="480060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Builds the running cumulative total.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251960"/>
            <a:ext cx="3429000" cy="1234440"/>
          </a:xfrm>
          <a:prstGeom prst="roundRect">
            <a:avLst/>
          </a:prstGeom>
          <a:solidFill>
            <a:srgbClr val="1D2631"/>
          </a:solidFill>
          <a:ln>
            <a:solidFill>
              <a:srgbClr val="1D26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83880" y="4251960"/>
            <a:ext cx="64008" cy="1234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85048" y="4379976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7FA"/>
                </a:solidFill>
                <a:latin typeface="Aptos"/>
              </a:defRPr>
            </a:pPr>
            <a:r>
              <a:t>np.corrcoef()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800600"/>
            <a:ext cx="3044952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AB4C0"/>
                </a:solidFill>
                <a:latin typeface="Aptos"/>
              </a:defRPr>
            </a:pPr>
            <a:r>
              <a:t>Builds the product correlation matrix.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7FA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AB4C0"/>
                </a:solidFill>
                <a:latin typeface="Aptos"/>
              </a:defRPr>
            </a:pPr>
            <a:r>
              <a:t>NumPy turns a 3-D retail sales dataset into practical business insights about revenue, profit, demand, stock risk, trends, and product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663440"/>
            <a:ext cx="9418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  <a:latin typeface="Aptos Display"/>
              </a:defRPr>
            </a:pPr>
            <a:r>
              <a:t>Thank You  • 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AAB4C0"/>
                </a:solidFill>
                <a:latin typeface="Aptos"/>
              </a:defRPr>
            </a:pPr>
            <a:r>
              <a:t>TechMart Retail Analytics  •  NumPy-only project  •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